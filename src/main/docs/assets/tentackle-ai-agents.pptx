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C252E"/>
                </a:solidFill>
                <a:latin typeface="Segoe UI"/>
              </a:rPr>
              <a:t>Tentackle AI Agent 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6B7684"/>
                </a:solidFill>
                <a:latin typeface="Segoe UI"/>
              </a:rPr>
              <a:t>What a coding agent can drive — one live model server, six headless Maven goals.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11064240" cy="15240"/>
          </a:xfrm>
          <a:prstGeom prst="rect">
            <a:avLst/>
          </a:prstGeom>
          <a:solidFill>
            <a:srgbClr val="C7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70000"/>
            <a:ext cx="2084831" cy="4289000"/>
          </a:xfrm>
          <a:prstGeom prst="roundRect">
            <a:avLst>
              <a:gd name="adj" fmla="val 6000"/>
            </a:avLst>
          </a:prstGeom>
          <a:solidFill>
            <a:srgbClr val="1C252E"/>
          </a:solidFill>
          <a:ln w="12700">
            <a:solidFill>
              <a:srgbClr val="1C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300" b="1">
                <a:solidFill>
                  <a:srgbClr val="FFFFFF"/>
                </a:solidFill>
                <a:latin typeface="Segoe UI"/>
              </a:rPr>
              <a:t>Coding
Agent</a:t>
            </a:r>
          </a:p>
          <a:p>
            <a:pPr algn="ctr"/>
            <a:r>
              <a:rPr sz="80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/>
            <a:r>
              <a:rPr sz="1100" i="0">
                <a:solidFill>
                  <a:srgbClr val="B6C2CE"/>
                </a:solidFill>
                <a:latin typeface="Segoe UI"/>
              </a:rPr>
              <a:t>Claude Code · Codex · IDE agents</a:t>
            </a:r>
          </a:p>
          <a:p>
            <a:pPr algn="ctr"/>
            <a:r>
              <a:rPr sz="70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/>
            <a:r>
              <a:rPr sz="1000" i="1">
                <a:solidFill>
                  <a:srgbClr val="8E9CAB"/>
                </a:solidFill>
                <a:latin typeface="Segoe UI"/>
              </a:rPr>
              <a:t>skills ship with the plugins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43199" y="1664776"/>
            <a:ext cx="475488" cy="155448"/>
          </a:xfrm>
          <a:prstGeom prst="rightArrow">
            <a:avLst/>
          </a:prstGeom>
          <a:solidFill>
            <a:srgbClr val="2E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10128" y="1470000"/>
            <a:ext cx="2788920" cy="545000"/>
          </a:xfrm>
          <a:prstGeom prst="roundRect">
            <a:avLst>
              <a:gd name="adj" fmla="val 16000"/>
            </a:avLst>
          </a:prstGeom>
          <a:solidFill>
            <a:srgbClr val="E8F1F9"/>
          </a:solidFill>
          <a:ln w="13970">
            <a:solidFill>
              <a:srgbClr val="2E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l"/>
            <a:r>
              <a:rPr sz="1200" b="1">
                <a:solidFill>
                  <a:srgbClr val="1C252E"/>
                </a:solidFill>
                <a:latin typeface="Consolas"/>
              </a:rPr>
              <a:t>tentackle-mcp:serve</a:t>
            </a:r>
          </a:p>
          <a:p>
            <a:pPr algn="l"/>
            <a:r>
              <a:rPr sz="950">
                <a:solidFill>
                  <a:srgbClr val="6B7684"/>
                </a:solidFill>
                <a:latin typeface="Consolas"/>
              </a:rPr>
              <a:t>MCP server, stays running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470000"/>
            <a:ext cx="5193792" cy="54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C252E"/>
                </a:solidFill>
                <a:latin typeface="Segoe UI"/>
              </a:rPr>
              <a:t>The entity model, loaded and relation-resolved — never writes, never connects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2054500"/>
            <a:ext cx="8330184" cy="12700"/>
          </a:xfrm>
          <a:prstGeom prst="rect">
            <a:avLst/>
          </a:prstGeom>
          <a:solidFill>
            <a:srgbClr val="C7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2743199" y="2288776"/>
            <a:ext cx="475488" cy="155448"/>
          </a:xfrm>
          <a:prstGeom prst="rightArrow">
            <a:avLst/>
          </a:prstGeom>
          <a:solidFill>
            <a:srgbClr val="B17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10128" y="2094000"/>
            <a:ext cx="2788920" cy="545000"/>
          </a:xfrm>
          <a:prstGeom prst="roundRect">
            <a:avLst>
              <a:gd name="adj" fmla="val 16000"/>
            </a:avLst>
          </a:prstGeom>
          <a:solidFill>
            <a:srgbClr val="FBF2E0"/>
          </a:solidFill>
          <a:ln w="13970">
            <a:solidFill>
              <a:srgbClr val="B177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l"/>
            <a:r>
              <a:rPr sz="1200" b="1">
                <a:solidFill>
                  <a:srgbClr val="1C252E"/>
                </a:solidFill>
                <a:latin typeface="Consolas"/>
              </a:rPr>
              <a:t>tentackle-wizard:pdo</a:t>
            </a:r>
          </a:p>
          <a:p>
            <a:pPr algn="l"/>
            <a:r>
              <a:rPr sz="950">
                <a:solidFill>
                  <a:srgbClr val="6B7684"/>
                </a:solidFill>
                <a:latin typeface="Consolas"/>
              </a:rPr>
              <a:t>-DbatchDir=…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94000"/>
            <a:ext cx="5193792" cy="54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C252E"/>
                </a:solidFill>
                <a:latin typeface="Segoe UI"/>
              </a:rPr>
              <a:t>Writes the source files of new PDOs into the reactor</a:t>
            </a:r>
          </a:p>
        </p:txBody>
      </p:sp>
      <p:sp>
        <p:nvSpPr>
          <p:cNvPr id="35" name="Right Arrow 35"/>
          <p:cNvSpPr/>
          <p:nvPr/>
        </p:nvSpPr>
        <p:spPr>
          <a:xfrm>
            <a:off x="2743199" y="2912776"/>
            <a:ext cx="475488" cy="155448"/>
          </a:xfrm>
          <a:prstGeom prst="rightArrow">
            <a:avLst/>
          </a:prstGeom>
          <a:solidFill>
            <a:srgbClr val="B17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3"/>
          <p:cNvSpPr/>
          <p:nvPr/>
        </p:nvSpPr>
        <p:spPr>
          <a:xfrm>
            <a:off x="3310128" y="2718000"/>
            <a:ext cx="2788920" cy="545000"/>
          </a:xfrm>
          <a:prstGeom prst="roundRect">
            <a:avLst>
              <a:gd name="adj" fmla="val 16000"/>
            </a:avLst>
          </a:prstGeom>
          <a:solidFill>
            <a:srgbClr val="FBF2E0"/>
          </a:solidFill>
          <a:ln w="13970">
            <a:solidFill>
              <a:srgbClr val="B177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l"/>
            <a:r>
              <a:rPr sz="1200" b="1">
                <a:solidFill>
                  <a:srgbClr val="1C252E"/>
                </a:solidFill>
                <a:latin typeface="Consolas"/>
              </a:rPr>
              <a:t>tentackle-wizard:operation</a:t>
            </a:r>
          </a:p>
          <a:p>
            <a:pPr algn="l"/>
            <a:r>
              <a:rPr sz="950">
                <a:solidFill>
                  <a:srgbClr val="6B7684"/>
                </a:solidFill>
                <a:latin typeface="Consolas"/>
              </a:rPr>
              <a:t>-DoperationName=…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46520" y="2718000"/>
            <a:ext cx="5193792" cy="54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C252E"/>
                </a:solidFill>
                <a:latin typeface="Segoe UI"/>
              </a:rPr>
              <a:t>Writes the source files of a new operation — behavior without an entity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43199" y="3536776"/>
            <a:ext cx="475488" cy="155448"/>
          </a:xfrm>
          <a:prstGeom prst="rightArrow">
            <a:avLst/>
          </a:prstGeom>
          <a:solidFill>
            <a:srgbClr val="B17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10128" y="3342000"/>
            <a:ext cx="2788920" cy="545000"/>
          </a:xfrm>
          <a:prstGeom prst="roundRect">
            <a:avLst>
              <a:gd name="adj" fmla="val 16000"/>
            </a:avLst>
          </a:prstGeom>
          <a:solidFill>
            <a:srgbClr val="FBF2E0"/>
          </a:solidFill>
          <a:ln w="13970">
            <a:solidFill>
              <a:srgbClr val="B177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l"/>
            <a:r>
              <a:rPr sz="1200" b="1">
                <a:solidFill>
                  <a:srgbClr val="1C252E"/>
                </a:solidFill>
                <a:latin typeface="Consolas"/>
              </a:rPr>
              <a:t>tentackle-wizard:browse</a:t>
            </a:r>
          </a:p>
          <a:p>
            <a:pPr algn="l"/>
            <a:r>
              <a:rPr sz="950">
                <a:solidFill>
                  <a:srgbClr val="6B7684"/>
                </a:solidFill>
                <a:latin typeface="Consolas"/>
              </a:rPr>
              <a:t>-Dpdo=… -Doutput=…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342000"/>
            <a:ext cx="5193792" cy="54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C252E"/>
                </a:solidFill>
                <a:latin typeface="Segoe UI"/>
              </a:rPr>
              <a:t>Reads persisted objects → Java test fixtures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743199" y="4160776"/>
            <a:ext cx="475488" cy="155448"/>
          </a:xfrm>
          <a:prstGeom prst="rightArrow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10128" y="3966000"/>
            <a:ext cx="2788920" cy="545000"/>
          </a:xfrm>
          <a:prstGeom prst="roundRect">
            <a:avLst>
              <a:gd name="adj" fmla="val 16000"/>
            </a:avLst>
          </a:prstGeom>
          <a:solidFill>
            <a:srgbClr val="FAEBE9"/>
          </a:solidFill>
          <a:ln w="1397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l"/>
            <a:r>
              <a:rPr sz="1200" b="1">
                <a:solidFill>
                  <a:srgbClr val="1C252E"/>
                </a:solidFill>
                <a:latin typeface="Consolas"/>
              </a:rPr>
              <a:t>tentackle-wizard:script</a:t>
            </a:r>
          </a:p>
          <a:p>
            <a:pPr algn="l"/>
            <a:r>
              <a:rPr sz="950">
                <a:solidFill>
                  <a:srgbClr val="6B7684"/>
                </a:solidFill>
                <a:latin typeface="Consolas"/>
              </a:rPr>
              <a:t>-Dscript=…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966000"/>
            <a:ext cx="5193792" cy="54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C252E"/>
                </a:solidFill>
                <a:latin typeface="Segoe UI"/>
              </a:rPr>
              <a:t>Runs Groovy/Ruby through the domain model — validation, locking, caches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743199" y="4784776"/>
            <a:ext cx="475488" cy="155448"/>
          </a:xfrm>
          <a:prstGeom prst="rightArrow">
            <a:avLst/>
          </a:prstGeom>
          <a:solidFill>
            <a:srgbClr val="B17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10128" y="4590000"/>
            <a:ext cx="2788920" cy="545000"/>
          </a:xfrm>
          <a:prstGeom prst="roundRect">
            <a:avLst>
              <a:gd name="adj" fmla="val 16000"/>
            </a:avLst>
          </a:prstGeom>
          <a:solidFill>
            <a:srgbClr val="FBF2E0"/>
          </a:solidFill>
          <a:ln w="13970">
            <a:solidFill>
              <a:srgbClr val="B177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l"/>
            <a:r>
              <a:rPr sz="1200" b="1">
                <a:solidFill>
                  <a:srgbClr val="1C252E"/>
                </a:solidFill>
                <a:latin typeface="Consolas"/>
              </a:rPr>
              <a:t>tentackle-sql:migrate</a:t>
            </a:r>
          </a:p>
          <a:p>
            <a:pPr algn="l"/>
            <a:r>
              <a:rPr sz="950">
                <a:solidFill>
                  <a:srgbClr val="6B7684"/>
                </a:solidFill>
                <a:latin typeface="Consolas"/>
              </a:rPr>
              <a:t>/ :validate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90000"/>
            <a:ext cx="5193792" cy="54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C252E"/>
                </a:solidFill>
                <a:latin typeface="Segoe UI"/>
              </a:rPr>
              <a:t>Compares DB metadata with the model → migration script to commit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743199" y="5408776"/>
            <a:ext cx="475488" cy="155448"/>
          </a:xfrm>
          <a:prstGeom prst="rightArrow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10128" y="5214000"/>
            <a:ext cx="2788920" cy="545000"/>
          </a:xfrm>
          <a:prstGeom prst="roundRect">
            <a:avLst>
              <a:gd name="adj" fmla="val 16000"/>
            </a:avLst>
          </a:prstGeom>
          <a:solidFill>
            <a:srgbClr val="FAEBE9"/>
          </a:solidFill>
          <a:ln w="1397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l"/>
            <a:r>
              <a:rPr sz="1200" b="1">
                <a:solidFill>
                  <a:srgbClr val="1C252E"/>
                </a:solidFill>
                <a:latin typeface="Consolas"/>
              </a:rPr>
              <a:t>tentackle-sql:run</a:t>
            </a:r>
          </a:p>
          <a:p>
            <a:pPr algn="l"/>
            <a:r>
              <a:rPr sz="950">
                <a:solidFill>
                  <a:srgbClr val="6B7684"/>
                </a:solidFill>
                <a:latin typeface="Consolas"/>
              </a:rPr>
              <a:t>-Dscript=…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214000"/>
            <a:ext cx="5193792" cy="54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C252E"/>
                </a:solidFill>
                <a:latin typeface="Segoe UI"/>
              </a:rPr>
              <a:t>Plain SQL, underneath the domain model — development databases only</a:t>
            </a:r>
          </a:p>
        </p:txBody>
      </p:sp>
      <p:sp>
        <p:nvSpPr>
          <p:cNvPr id="25" name="Oval 24"/>
          <p:cNvSpPr/>
          <p:nvPr/>
        </p:nvSpPr>
        <p:spPr>
          <a:xfrm>
            <a:off x="3310128" y="6039612"/>
            <a:ext cx="118872" cy="118872"/>
          </a:xfrm>
          <a:prstGeom prst="ellipse">
            <a:avLst/>
          </a:prstGeom>
          <a:solidFill>
            <a:srgbClr val="2E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02152" y="599846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B7684"/>
                </a:solidFill>
                <a:latin typeface="Segoe UI"/>
              </a:rPr>
              <a:t>read-only</a:t>
            </a:r>
          </a:p>
        </p:txBody>
      </p:sp>
      <p:sp>
        <p:nvSpPr>
          <p:cNvPr id="27" name="Oval 26"/>
          <p:cNvSpPr/>
          <p:nvPr/>
        </p:nvSpPr>
        <p:spPr>
          <a:xfrm>
            <a:off x="4791456" y="6039612"/>
            <a:ext cx="118872" cy="118872"/>
          </a:xfrm>
          <a:prstGeom prst="ellipse">
            <a:avLst/>
          </a:prstGeom>
          <a:solidFill>
            <a:srgbClr val="B17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599846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B7684"/>
                </a:solidFill>
                <a:latin typeface="Segoe UI"/>
              </a:rPr>
              <a:t>writes files</a:t>
            </a:r>
          </a:p>
        </p:txBody>
      </p:sp>
      <p:sp>
        <p:nvSpPr>
          <p:cNvPr id="29" name="Oval 28"/>
          <p:cNvSpPr/>
          <p:nvPr/>
        </p:nvSpPr>
        <p:spPr>
          <a:xfrm>
            <a:off x="6272784" y="6039612"/>
            <a:ext cx="118872" cy="118872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8" y="599846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B7684"/>
                </a:solidFill>
                <a:latin typeface="Segoe UI"/>
              </a:rPr>
              <a:t>can change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382512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1">
                <a:solidFill>
                  <a:srgbClr val="6B7684"/>
                </a:solidFill>
                <a:latin typeface="Segoe UI"/>
              </a:rPr>
              <a:t>The model server answers “how is this mapped?”, the script goal “what does the application do?”, the SQL goals “what is actually stored?”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620256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1">
                <a:solidFill>
                  <a:srgbClr val="6B7684"/>
                </a:solidFill>
                <a:latin typeface="Segoe UI"/>
              </a:rPr>
              <a:t>None of them is a deployment tool — migrations are committed and rolled out by Flyway or Liquibase.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